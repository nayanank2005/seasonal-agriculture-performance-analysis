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02" r:id="rId8"/>
    <p:sldId id="329"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66" d="100"/>
          <a:sy n="66" d="100"/>
        </p:scale>
        <p:origin x="588" y="3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4</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489200"/>
            <a:ext cx="9677083" cy="1098998"/>
          </a:xfrm>
        </p:spPr>
        <p:txBody>
          <a:bodyPr>
            <a:normAutofit/>
          </a:bodyPr>
          <a:lstStyle/>
          <a:p>
            <a:pPr algn="ctr"/>
            <a:r>
              <a:rPr lang="en-GB" sz="3200" dirty="0"/>
              <a:t>Project Title – Seasonal Agriculture </a:t>
            </a:r>
            <a:r>
              <a:rPr lang="en-GB" sz="3200" dirty="0" err="1"/>
              <a:t>Perfomanc</a:t>
            </a:r>
            <a:r>
              <a:rPr lang="en-GB" sz="3200" dirty="0"/>
              <a:t>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3091898" y="4830004"/>
            <a:ext cx="5862320" cy="400110"/>
          </a:xfrm>
          <a:prstGeom prst="rect">
            <a:avLst/>
          </a:prstGeom>
          <a:noFill/>
        </p:spPr>
        <p:txBody>
          <a:bodyPr wrap="square" rtlCol="0">
            <a:spAutoFit/>
          </a:bodyPr>
          <a:lstStyle/>
          <a:p>
            <a:r>
              <a:rPr lang="en-US" sz="2000" b="1" dirty="0"/>
              <a:t>AICTE STU ID :</a:t>
            </a:r>
            <a:r>
              <a:rPr lang="en-US" sz="2000" dirty="0"/>
              <a:t>STU69972dbec8f2a1771515326</a:t>
            </a:r>
            <a:r>
              <a:rPr lang="en-US" sz="2000" b="1" dirty="0"/>
              <a:t> </a:t>
            </a:r>
          </a:p>
        </p:txBody>
      </p:sp>
      <p:sp>
        <p:nvSpPr>
          <p:cNvPr id="8" name="TextBox 7">
            <a:extLst>
              <a:ext uri="{FF2B5EF4-FFF2-40B4-BE49-F238E27FC236}">
                <a16:creationId xmlns:a16="http://schemas.microsoft.com/office/drawing/2014/main" id="{693B04CC-6D57-A6CD-4511-28274B896DA0}"/>
              </a:ext>
            </a:extLst>
          </p:cNvPr>
          <p:cNvSpPr txBox="1"/>
          <p:nvPr/>
        </p:nvSpPr>
        <p:spPr>
          <a:xfrm flipH="1">
            <a:off x="3091898" y="3655498"/>
            <a:ext cx="7634923" cy="1631216"/>
          </a:xfrm>
          <a:prstGeom prst="rect">
            <a:avLst/>
          </a:prstGeom>
          <a:noFill/>
        </p:spPr>
        <p:txBody>
          <a:bodyPr wrap="square" rtlCol="0">
            <a:spAutoFit/>
          </a:bodyPr>
          <a:lstStyle/>
          <a:p>
            <a:r>
              <a:rPr lang="en-US" sz="2000" b="1" dirty="0"/>
              <a:t>Student Name : </a:t>
            </a:r>
            <a:r>
              <a:rPr lang="en-US" sz="2000" dirty="0"/>
              <a:t>Nayana N K</a:t>
            </a:r>
          </a:p>
          <a:p>
            <a:endParaRPr lang="en-IN" sz="2000" dirty="0"/>
          </a:p>
          <a:p>
            <a:r>
              <a:rPr lang="en-IN" sz="2000" b="1" dirty="0"/>
              <a:t>College Name : </a:t>
            </a:r>
            <a:r>
              <a:rPr lang="en-IN" sz="2000" dirty="0"/>
              <a:t>Bahubali College Of Engineering</a:t>
            </a:r>
          </a:p>
          <a:p>
            <a:endParaRPr lang="en-IN" sz="2000" dirty="0"/>
          </a:p>
          <a:p>
            <a:r>
              <a:rPr lang="en-IN" sz="2000" dirty="0"/>
              <a:t> </a:t>
            </a:r>
            <a:endParaRPr lang="en-US" sz="2000"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356135" y="1340528"/>
            <a:ext cx="7685949" cy="5324432"/>
          </a:xfrm>
        </p:spPr>
        <p:txBody>
          <a:bodyPr vert="horz" lIns="91440" tIns="45720" rIns="91440" bIns="45720" rtlCol="0" anchor="t">
            <a:normAutofit/>
          </a:bodyPr>
          <a:lstStyle/>
          <a:p>
            <a:pPr marL="457200" lvl="1" indent="0" algn="just">
              <a:lnSpc>
                <a:spcPct val="150000"/>
              </a:lnSpc>
              <a:buNone/>
            </a:pPr>
            <a:r>
              <a:rPr lang="en-IN" dirty="0"/>
              <a:t>	</a:t>
            </a:r>
            <a:r>
              <a:rPr lang="en-US"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4315BFEF-F9F2-E099-5003-766FBDC9374C}"/>
              </a:ext>
            </a:extLst>
          </p:cNvPr>
          <p:cNvSpPr txBox="1"/>
          <p:nvPr/>
        </p:nvSpPr>
        <p:spPr>
          <a:xfrm>
            <a:off x="863600" y="1859281"/>
            <a:ext cx="8361679" cy="3365473"/>
          </a:xfrm>
          <a:prstGeom prst="rect">
            <a:avLst/>
          </a:prstGeom>
          <a:noFill/>
        </p:spPr>
        <p:txBody>
          <a:bodyPr wrap="square" rtlCol="0">
            <a:spAutoFit/>
          </a:bodyPr>
          <a:lstStyle/>
          <a:p>
            <a:pPr algn="just">
              <a:lnSpc>
                <a:spcPct val="150000"/>
              </a:lnSpc>
            </a:pPr>
            <a:r>
              <a:rPr lang="en-IN" b="1" dirty="0"/>
              <a:t>Seasonal Agriculture Performance Analysis</a:t>
            </a:r>
            <a:r>
              <a:rPr lang="en-IN" dirty="0"/>
              <a:t> is a data analytics project that </a:t>
            </a:r>
            <a:r>
              <a:rPr lang="en-IN" dirty="0" err="1"/>
              <a:t>analyzes</a:t>
            </a:r>
            <a:r>
              <a:rPr lang="en-IN" dirty="0"/>
              <a:t> agricultural data across different seasons, regions, environmental conditions, resource usage, and economic factors. The project uses Python-based data analysis and visualization techniques to identify seasonal patterns, compare agricultural performance, detect unusual values, and study relationships between production, resources, environmental conditions, and economic factors. Statistical analysis is also used to determine whether differences between seasons are significant.</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51280" y="1432560"/>
            <a:ext cx="9148554" cy="4994873"/>
          </a:xfrm>
        </p:spPr>
        <p:txBody>
          <a:bodyPr>
            <a:normAutofit/>
          </a:bodyPr>
          <a:lstStyle/>
          <a:p>
            <a:pPr marL="457200" lvl="1" indent="0" algn="just">
              <a:lnSpc>
                <a:spcPct val="150000"/>
              </a:lnSpc>
              <a:buNone/>
            </a:pPr>
            <a:r>
              <a:rPr lang="en-US" dirty="0"/>
              <a:t>Programming Language                       Python</a:t>
            </a:r>
          </a:p>
          <a:p>
            <a:pPr marL="457200" lvl="1" indent="0" algn="just">
              <a:lnSpc>
                <a:spcPct val="150000"/>
              </a:lnSpc>
              <a:buNone/>
            </a:pPr>
            <a:r>
              <a:rPr lang="en-IN" dirty="0"/>
              <a:t>Data Analysis                                      Pandas, </a:t>
            </a:r>
            <a:r>
              <a:rPr lang="en-IN" dirty="0" err="1"/>
              <a:t>Numpy</a:t>
            </a:r>
            <a:endParaRPr lang="en-IN" dirty="0"/>
          </a:p>
          <a:p>
            <a:pPr marL="457200" lvl="1" indent="0" algn="just">
              <a:lnSpc>
                <a:spcPct val="150000"/>
              </a:lnSpc>
              <a:buNone/>
            </a:pPr>
            <a:r>
              <a:rPr lang="en-IN" dirty="0"/>
              <a:t>Data visualization                               Matplotlib Seaborn                             </a:t>
            </a:r>
          </a:p>
          <a:p>
            <a:pPr marL="457200" lvl="1" indent="0" algn="just">
              <a:lnSpc>
                <a:spcPct val="150000"/>
              </a:lnSpc>
              <a:buNone/>
            </a:pPr>
            <a:r>
              <a:rPr lang="en-IN" dirty="0"/>
              <a:t>Statistical Analysis                              </a:t>
            </a:r>
            <a:r>
              <a:rPr lang="en-IN" dirty="0" err="1"/>
              <a:t>Scipy</a:t>
            </a:r>
            <a:endParaRPr lang="en-IN" dirty="0"/>
          </a:p>
          <a:p>
            <a:pPr marL="457200" lvl="1" indent="0" algn="just">
              <a:lnSpc>
                <a:spcPct val="150000"/>
              </a:lnSpc>
              <a:buNone/>
            </a:pPr>
            <a:r>
              <a:rPr lang="en-IN" dirty="0"/>
              <a:t>Development platform                        Google </a:t>
            </a:r>
            <a:r>
              <a:rPr lang="en-IN" dirty="0" err="1"/>
              <a:t>Colab</a:t>
            </a:r>
            <a:r>
              <a:rPr lang="en-IN" dirty="0"/>
              <a:t>/Jupyter Notebook</a:t>
            </a:r>
          </a:p>
          <a:p>
            <a:pPr marL="457200" lvl="1" indent="0" algn="just">
              <a:lnSpc>
                <a:spcPct val="150000"/>
              </a:lnSpc>
              <a:buNone/>
            </a:pPr>
            <a:r>
              <a:rPr lang="en-IN" dirty="0"/>
              <a:t>Dataset                                              CSV/ Excel                                                                                                              </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a:t>
            </a:r>
            <a:r>
              <a:rPr lang="en-US" sz="4000" dirty="0"/>
              <a:t> </a:t>
            </a:r>
            <a:r>
              <a:rPr lang="en-US" dirty="0"/>
              <a:t>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680721"/>
            <a:ext cx="10046070" cy="726280"/>
          </a:xfrm>
        </p:spPr>
        <p:txBody>
          <a:bodyPr>
            <a:normAutofit/>
          </a:bodyPr>
          <a:lstStyle/>
          <a:p>
            <a:r>
              <a:rPr lang="en-US" sz="3200" dirty="0"/>
              <a:t>Who are the </a:t>
            </a:r>
            <a:r>
              <a:rPr lang="en-US" sz="3200" dirty="0" err="1"/>
              <a:t>Endusers</a:t>
            </a:r>
            <a:r>
              <a:rPr lang="en-US" sz="3200" dirty="0"/>
              <a:t> ?</a:t>
            </a:r>
            <a:endParaRPr lang="en-IN" sz="32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4" name="TextBox 13">
            <a:extLst>
              <a:ext uri="{FF2B5EF4-FFF2-40B4-BE49-F238E27FC236}">
                <a16:creationId xmlns:a16="http://schemas.microsoft.com/office/drawing/2014/main" id="{D03D69F4-68C8-E89A-C5AE-828A91AC5B29}"/>
              </a:ext>
            </a:extLst>
          </p:cNvPr>
          <p:cNvSpPr txBox="1"/>
          <p:nvPr/>
        </p:nvSpPr>
        <p:spPr>
          <a:xfrm>
            <a:off x="873760" y="1757680"/>
            <a:ext cx="8564880" cy="3693319"/>
          </a:xfrm>
          <a:prstGeom prst="rect">
            <a:avLst/>
          </a:prstGeom>
          <a:noFill/>
        </p:spPr>
        <p:txBody>
          <a:bodyPr wrap="square" rtlCol="0">
            <a:spAutoFit/>
          </a:bodyPr>
          <a:lstStyle/>
          <a:p>
            <a:pPr lvl="0"/>
            <a:r>
              <a:rPr lang="en-IN" b="1" dirty="0"/>
              <a:t>Farmers</a:t>
            </a:r>
            <a:r>
              <a:rPr lang="en-IN" dirty="0"/>
              <a:t> – to understand which seasons provide better agricultural performance.</a:t>
            </a:r>
          </a:p>
          <a:p>
            <a:pPr lvl="0"/>
            <a:r>
              <a:rPr lang="en-IN" dirty="0"/>
              <a:t> </a:t>
            </a:r>
          </a:p>
          <a:p>
            <a:pPr lvl="0"/>
            <a:r>
              <a:rPr lang="en-IN" b="1" dirty="0"/>
              <a:t>Agricultural Officers</a:t>
            </a:r>
            <a:r>
              <a:rPr lang="en-IN" dirty="0"/>
              <a:t> – to </a:t>
            </a:r>
            <a:r>
              <a:rPr lang="en-IN" dirty="0" err="1"/>
              <a:t>analyze</a:t>
            </a:r>
            <a:r>
              <a:rPr lang="en-IN" dirty="0"/>
              <a:t> seasonal and regional agricultural conditions.</a:t>
            </a:r>
          </a:p>
          <a:p>
            <a:pPr lvl="0"/>
            <a:r>
              <a:rPr lang="en-IN" dirty="0"/>
              <a:t> </a:t>
            </a:r>
          </a:p>
          <a:p>
            <a:pPr lvl="0"/>
            <a:r>
              <a:rPr lang="en-IN" b="1" dirty="0"/>
              <a:t>Agricultural Researchers</a:t>
            </a:r>
            <a:r>
              <a:rPr lang="en-IN" dirty="0"/>
              <a:t> – to study relationships between environmental factors and crop production</a:t>
            </a:r>
          </a:p>
          <a:p>
            <a:pPr lvl="0"/>
            <a:r>
              <a:rPr lang="en-IN" dirty="0"/>
              <a:t>. </a:t>
            </a:r>
          </a:p>
          <a:p>
            <a:pPr lvl="0"/>
            <a:r>
              <a:rPr lang="en-IN" b="1" dirty="0"/>
              <a:t>Government Departments</a:t>
            </a:r>
            <a:r>
              <a:rPr lang="en-IN" dirty="0"/>
              <a:t> – to support agricultural planning and resource allocation.</a:t>
            </a:r>
          </a:p>
          <a:p>
            <a:pPr lvl="0"/>
            <a:r>
              <a:rPr lang="en-IN" dirty="0"/>
              <a:t> </a:t>
            </a:r>
          </a:p>
          <a:p>
            <a:pPr lvl="0"/>
            <a:r>
              <a:rPr lang="en-IN" b="1" dirty="0"/>
              <a:t>Agribusiness Organizations</a:t>
            </a:r>
            <a:r>
              <a:rPr lang="en-IN" dirty="0"/>
              <a:t> – to understand production and economic trends.</a:t>
            </a:r>
          </a:p>
          <a:p>
            <a:pPr lvl="0"/>
            <a:r>
              <a:rPr lang="en-IN" dirty="0"/>
              <a:t> </a:t>
            </a:r>
          </a:p>
          <a:p>
            <a:pPr lvl="0"/>
            <a:r>
              <a:rPr lang="en-IN" b="1" dirty="0"/>
              <a:t>Students and Data Analysts</a:t>
            </a:r>
            <a:r>
              <a:rPr lang="en-IN" dirty="0"/>
              <a:t> – for agricultural data analysis and </a:t>
            </a:r>
            <a:r>
              <a:rPr lang="en-IN" dirty="0" err="1"/>
              <a:t>resea</a:t>
            </a:r>
            <a:endParaRPr lang="en-IN" dirty="0"/>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1F20FCE9-9298-CAB4-4298-FACEDBBCB512}"/>
              </a:ext>
            </a:extLst>
          </p:cNvPr>
          <p:cNvSpPr txBox="1"/>
          <p:nvPr/>
        </p:nvSpPr>
        <p:spPr>
          <a:xfrm>
            <a:off x="675956" y="1402080"/>
            <a:ext cx="8640763" cy="5355312"/>
          </a:xfrm>
          <a:prstGeom prst="rect">
            <a:avLst/>
          </a:prstGeom>
          <a:noFill/>
        </p:spPr>
        <p:txBody>
          <a:bodyPr wrap="square" rtlCol="0">
            <a:spAutoFit/>
          </a:bodyPr>
          <a:lstStyle/>
          <a:p>
            <a:pPr>
              <a:lnSpc>
                <a:spcPct val="150000"/>
              </a:lnSpc>
            </a:pPr>
            <a:r>
              <a:rPr lang="en-IN" dirty="0"/>
              <a:t>	The project provides a clear comparison of agricultural performance across different seasons. It identifies:</a:t>
            </a:r>
          </a:p>
          <a:p>
            <a:pPr>
              <a:lnSpc>
                <a:spcPct val="150000"/>
              </a:lnSpc>
            </a:pPr>
            <a:endParaRPr lang="en-IN" dirty="0"/>
          </a:p>
          <a:p>
            <a:pPr marL="285750" lvl="0" indent="-285750">
              <a:lnSpc>
                <a:spcPct val="150000"/>
              </a:lnSpc>
              <a:buFont typeface="Arial" panose="020B0604020202020204" pitchFamily="34" charset="0"/>
              <a:buChar char="•"/>
            </a:pPr>
            <a:r>
              <a:rPr lang="en-IN" dirty="0"/>
              <a:t>The highest and lowest performing seasons. </a:t>
            </a:r>
          </a:p>
          <a:p>
            <a:pPr marL="285750" lvl="0" indent="-285750">
              <a:lnSpc>
                <a:spcPct val="150000"/>
              </a:lnSpc>
              <a:buFont typeface="Arial" panose="020B0604020202020204" pitchFamily="34" charset="0"/>
              <a:buChar char="•"/>
            </a:pPr>
            <a:r>
              <a:rPr lang="en-IN" dirty="0"/>
              <a:t>Seasonal differences in production/output. </a:t>
            </a:r>
          </a:p>
          <a:p>
            <a:pPr marL="285750" lvl="0" indent="-285750">
              <a:lnSpc>
                <a:spcPct val="150000"/>
              </a:lnSpc>
              <a:buFont typeface="Arial" panose="020B0604020202020204" pitchFamily="34" charset="0"/>
              <a:buChar char="•"/>
            </a:pPr>
            <a:r>
              <a:rPr lang="en-IN" dirty="0"/>
              <a:t>Variation in resource usage. </a:t>
            </a:r>
          </a:p>
          <a:p>
            <a:pPr marL="285750" lvl="0" indent="-285750">
              <a:lnSpc>
                <a:spcPct val="150000"/>
              </a:lnSpc>
              <a:buFont typeface="Arial" panose="020B0604020202020204" pitchFamily="34" charset="0"/>
              <a:buChar char="•"/>
            </a:pPr>
            <a:r>
              <a:rPr lang="en-IN" dirty="0"/>
              <a:t>Relationships between environmental conditions and agricultural performance. </a:t>
            </a:r>
          </a:p>
          <a:p>
            <a:pPr marL="285750" lvl="0" indent="-285750">
              <a:lnSpc>
                <a:spcPct val="150000"/>
              </a:lnSpc>
              <a:buFont typeface="Arial" panose="020B0604020202020204" pitchFamily="34" charset="0"/>
              <a:buChar char="•"/>
            </a:pPr>
            <a:r>
              <a:rPr lang="en-IN" dirty="0"/>
              <a:t>Relationships between production and economic factors. </a:t>
            </a:r>
          </a:p>
          <a:p>
            <a:pPr marL="285750" lvl="0" indent="-285750">
              <a:lnSpc>
                <a:spcPct val="150000"/>
              </a:lnSpc>
              <a:buFont typeface="Arial" panose="020B0604020202020204" pitchFamily="34" charset="0"/>
              <a:buChar char="•"/>
            </a:pPr>
            <a:r>
              <a:rPr lang="en-IN" dirty="0"/>
              <a:t>Regional/category-wise performance, when such data is available. </a:t>
            </a:r>
          </a:p>
          <a:p>
            <a:pPr marL="285750" lvl="0" indent="-285750">
              <a:lnSpc>
                <a:spcPct val="150000"/>
              </a:lnSpc>
              <a:buFont typeface="Arial" panose="020B0604020202020204" pitchFamily="34" charset="0"/>
              <a:buChar char="•"/>
            </a:pPr>
            <a:r>
              <a:rPr lang="en-IN" dirty="0"/>
              <a:t>Missing values, duplicates, outliers, and unusual patterns. </a:t>
            </a:r>
          </a:p>
          <a:p>
            <a:pPr marL="285750" lvl="0" indent="-285750">
              <a:lnSpc>
                <a:spcPct val="150000"/>
              </a:lnSpc>
              <a:buFont typeface="Arial" panose="020B0604020202020204" pitchFamily="34" charset="0"/>
              <a:buChar char="•"/>
            </a:pPr>
            <a:r>
              <a:rPr lang="en-IN" dirty="0"/>
              <a:t>Whether seasonal differences are statistically significant. </a:t>
            </a:r>
          </a:p>
          <a:p>
            <a:pPr>
              <a:lnSpc>
                <a:spcPct val="150000"/>
              </a:lnSpc>
            </a:pPr>
            <a:endParaRPr lang="en-IN" dirty="0"/>
          </a:p>
          <a:p>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2877270F-E542-0B23-D1EB-05DF3FFC519B}"/>
              </a:ext>
            </a:extLst>
          </p:cNvPr>
          <p:cNvPicPr>
            <a:picLocks noChangeAspect="1"/>
          </p:cNvPicPr>
          <p:nvPr/>
        </p:nvPicPr>
        <p:blipFill>
          <a:blip r:embed="rId3"/>
          <a:stretch>
            <a:fillRect/>
          </a:stretch>
        </p:blipFill>
        <p:spPr>
          <a:xfrm>
            <a:off x="675957" y="1105066"/>
            <a:ext cx="9008996" cy="546337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D3A29EC-56B7-E378-17B3-E8958F8C91DD}"/>
              </a:ext>
            </a:extLst>
          </p:cNvPr>
          <p:cNvPicPr>
            <a:picLocks noChangeAspect="1"/>
          </p:cNvPicPr>
          <p:nvPr/>
        </p:nvPicPr>
        <p:blipFill>
          <a:blip r:embed="rId3"/>
          <a:stretch>
            <a:fillRect/>
          </a:stretch>
        </p:blipFill>
        <p:spPr>
          <a:xfrm>
            <a:off x="782086" y="1084288"/>
            <a:ext cx="8997182" cy="548415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637304A5-93FE-2C65-72B8-AC5B015F53C2}"/>
              </a:ext>
            </a:extLst>
          </p:cNvPr>
          <p:cNvPicPr>
            <a:picLocks noChangeAspect="1"/>
          </p:cNvPicPr>
          <p:nvPr/>
        </p:nvPicPr>
        <p:blipFill>
          <a:blip r:embed="rId3"/>
          <a:stretch>
            <a:fillRect/>
          </a:stretch>
        </p:blipFill>
        <p:spPr>
          <a:xfrm>
            <a:off x="675957" y="1232868"/>
            <a:ext cx="8833803" cy="498505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 Placeholder 2">
            <a:extLst>
              <a:ext uri="{FF2B5EF4-FFF2-40B4-BE49-F238E27FC236}">
                <a16:creationId xmlns:a16="http://schemas.microsoft.com/office/drawing/2014/main" id="{E7A1FC88-7E87-61BB-DF37-1C87DDCB5E67}"/>
              </a:ext>
            </a:extLst>
          </p:cNvPr>
          <p:cNvSpPr>
            <a:spLocks noGrp="1"/>
          </p:cNvSpPr>
          <p:nvPr>
            <p:ph type="body" sz="quarter" idx="12"/>
          </p:nvPr>
        </p:nvSpPr>
        <p:spPr>
          <a:xfrm>
            <a:off x="660400" y="2044700"/>
            <a:ext cx="4275138" cy="3560763"/>
          </a:xfrm>
        </p:spPr>
        <p:txBody>
          <a:bodyPr/>
          <a:lstStyle/>
          <a:p>
            <a:endParaRPr lang="en-IN" dirty="0"/>
          </a:p>
        </p:txBody>
      </p:sp>
      <p:pic>
        <p:nvPicPr>
          <p:cNvPr id="11" name="Picture 10">
            <a:extLst>
              <a:ext uri="{FF2B5EF4-FFF2-40B4-BE49-F238E27FC236}">
                <a16:creationId xmlns:a16="http://schemas.microsoft.com/office/drawing/2014/main" id="{07D61BD0-2C8E-A1A8-61B3-BE295F0832D7}"/>
              </a:ext>
            </a:extLst>
          </p:cNvPr>
          <p:cNvPicPr>
            <a:picLocks noChangeAspect="1"/>
          </p:cNvPicPr>
          <p:nvPr/>
        </p:nvPicPr>
        <p:blipFill>
          <a:blip r:embed="rId3"/>
          <a:stretch>
            <a:fillRect/>
          </a:stretch>
        </p:blipFill>
        <p:spPr>
          <a:xfrm>
            <a:off x="675957" y="1149233"/>
            <a:ext cx="9049255" cy="5424822"/>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8955098" cy="538959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IN" sz="2000" b="1" dirty="0"/>
              <a:t>1.Crop Production Prediction</a:t>
            </a:r>
            <a:r>
              <a:rPr lang="en-IN" sz="2000" dirty="0"/>
              <a:t> – Use machine learning to prediction crop production for future seasons.</a:t>
            </a:r>
          </a:p>
          <a:p>
            <a:pPr lvl="0" algn="just"/>
            <a:r>
              <a:rPr lang="en-IN" sz="2000" b="1" dirty="0"/>
              <a:t>2.Real-Time Weather Integration</a:t>
            </a:r>
            <a:r>
              <a:rPr lang="en-IN" sz="2000" dirty="0"/>
              <a:t> – Include real-time rainfall, temperature, humidity, and other weather data.</a:t>
            </a:r>
          </a:p>
          <a:p>
            <a:pPr lvl="0" algn="just"/>
            <a:r>
              <a:rPr lang="en-IN" sz="2000" b="1" dirty="0"/>
              <a:t>3.Smart Crop Recommendations</a:t>
            </a:r>
            <a:r>
              <a:rPr lang="en-IN" sz="2000" dirty="0"/>
              <a:t> – Recommend suitable crops based on season, soil, and environmental conditions.</a:t>
            </a:r>
          </a:p>
          <a:p>
            <a:pPr lvl="0" algn="just"/>
            <a:r>
              <a:rPr lang="en-IN" sz="2000" b="1" dirty="0"/>
              <a:t>4.Interactive Dashboard</a:t>
            </a:r>
            <a:r>
              <a:rPr lang="en-IN" sz="2000" dirty="0"/>
              <a:t> – Develop a Power BI or web-based dashboard for real-time agricultural analysis.</a:t>
            </a:r>
          </a:p>
          <a:p>
            <a:pPr lvl="0" algn="just"/>
            <a:r>
              <a:rPr lang="en-IN" sz="2000" b="1" dirty="0"/>
              <a:t>5.Market &amp; Profit Prediction</a:t>
            </a:r>
            <a:r>
              <a:rPr lang="en-IN" sz="2000" dirty="0"/>
              <a:t> – </a:t>
            </a:r>
            <a:r>
              <a:rPr lang="en-IN" sz="2000" dirty="0" err="1"/>
              <a:t>Analyze</a:t>
            </a:r>
            <a:r>
              <a:rPr lang="en-IN" sz="2000" dirty="0"/>
              <a:t> market prices and predict crop profitability to support better farming decisions.</a:t>
            </a:r>
          </a:p>
          <a:p>
            <a:pPr lvl="0" algn="just"/>
            <a:r>
              <a:rPr lang="en-IN" sz="2000" dirty="0"/>
              <a:t> </a:t>
            </a:r>
          </a:p>
          <a:p>
            <a:pPr algn="l"/>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https://github.com/nayanank2005/Seasonal-Agriculture-Performance-Analysis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18C859A-CC35-6B52-FDDF-F6ADC8B73365}"/>
              </a:ext>
            </a:extLst>
          </p:cNvPr>
          <p:cNvPicPr>
            <a:picLocks noChangeAspect="1"/>
          </p:cNvPicPr>
          <p:nvPr/>
        </p:nvPicPr>
        <p:blipFill>
          <a:blip r:embed="rId3"/>
          <a:stretch>
            <a:fillRect/>
          </a:stretch>
        </p:blipFill>
        <p:spPr>
          <a:xfrm>
            <a:off x="966054" y="2149878"/>
            <a:ext cx="7385466" cy="451508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700"/>
            <a:ext cx="11340000" cy="700114"/>
          </a:xfrm>
          <a:prstGeom prst="rect">
            <a:avLst/>
          </a:prstGeom>
        </p:spPr>
        <p:txBody>
          <a:bodyPr anchor="ctr">
            <a:normAutofit fontScale="90000"/>
          </a:bodyPr>
          <a:lstStyle/>
          <a:p>
            <a:pPr algn="ct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1498</TotalTime>
  <Words>522</Words>
  <Application>Microsoft Office PowerPoint</Application>
  <PresentationFormat>Widescreen</PresentationFormat>
  <Paragraphs>59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Perfomanc         Analysis                                         </vt:lpstr>
      <vt:lpstr>PROBLEM  STATEMENT</vt:lpstr>
      <vt:lpstr>Project Description : </vt:lpstr>
      <vt:lpstr>Technology Used:</vt:lpstr>
      <vt:lpstr>Who are the Endusers ?</vt:lpstr>
      <vt:lpstr>RESULTS </vt:lpstr>
      <vt:lpstr>RESULTS </vt:lpstr>
      <vt:lpstr>RESULTS </vt:lpstr>
      <vt:lpstr>RESULTS </vt:lpstr>
      <vt:lpstr>RESULTS </vt:lpstr>
      <vt:lpstr>Future scope</vt:lpstr>
      <vt:lpstr>GitHub Link</vt:lpstr>
      <vt:lpstr>VOIS Course completion certificate -  Course name- Data Visualization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nayanank2005@gmail.com</cp:lastModifiedBy>
  <cp:revision>119</cp:revision>
  <dcterms:created xsi:type="dcterms:W3CDTF">2021-07-11T13:13:15Z</dcterms:created>
  <dcterms:modified xsi:type="dcterms:W3CDTF">2026-09-07T10:54:11Z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